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6"/>
  </p:notesMasterIdLst>
  <p:sldIdLst>
    <p:sldId id="256" r:id="rId3"/>
    <p:sldId id="571" r:id="rId4"/>
    <p:sldId id="572" r:id="rId5"/>
    <p:sldId id="573" r:id="rId6"/>
    <p:sldId id="574" r:id="rId7"/>
    <p:sldId id="575" r:id="rId8"/>
    <p:sldId id="576" r:id="rId9"/>
    <p:sldId id="580" r:id="rId10"/>
    <p:sldId id="581" r:id="rId11"/>
    <p:sldId id="577" r:id="rId12"/>
    <p:sldId id="579" r:id="rId13"/>
    <p:sldId id="578" r:id="rId14"/>
    <p:sldId id="536"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7" autoAdjust="0"/>
    <p:restoredTop sz="73818" autoAdjust="0"/>
  </p:normalViewPr>
  <p:slideViewPr>
    <p:cSldViewPr snapToGrid="0">
      <p:cViewPr varScale="1">
        <p:scale>
          <a:sx n="82" d="100"/>
          <a:sy n="82" d="100"/>
        </p:scale>
        <p:origin x="696"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13-02-2026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13</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13-02-2026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2/13/2026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13/02/2026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Harsh2005adgitm/MICROSOFT_ELEVATE-PROJECT_FLOOD_PREDICTION_MODEL" TargetMode="External"/><Relationship Id="rId2" Type="http://schemas.openxmlformats.org/officeDocument/2006/relationships/hyperlink" Target="https://www.kaggle.com/"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548" y="227696"/>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391886" y="733440"/>
            <a:ext cx="5575439" cy="2938716"/>
          </a:xfrm>
          <a:prstGeom prst="rect">
            <a:avLst/>
          </a:prstGeom>
        </p:spPr>
        <p:txBody>
          <a:bodyPr vert="horz" lIns="91440" tIns="45720" rIns="91440" bIns="45720" rtlCol="0" anchor="b">
            <a:normAutofit fontScale="92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100" b="1" cap="all" dirty="0">
                <a:latin typeface="Aptos"/>
              </a:rPr>
              <a:t>flood Prediction Model</a:t>
            </a:r>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717483" y="3628124"/>
            <a:ext cx="4166512" cy="2371662"/>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800" b="1" cap="all" dirty="0"/>
              <a:t>Presented By</a:t>
            </a:r>
            <a:endParaRPr lang="en-US" sz="1800" cap="all" dirty="0"/>
          </a:p>
          <a:p>
            <a:pPr algn="l">
              <a:spcAft>
                <a:spcPts val="600"/>
              </a:spcAft>
            </a:pPr>
            <a:r>
              <a:rPr lang="en-US" sz="1800" b="1" cap="all" dirty="0"/>
              <a:t>Student Name: </a:t>
            </a:r>
            <a:r>
              <a:rPr lang="en-US" sz="1800" cap="all" dirty="0"/>
              <a:t>Harsh YADAV</a:t>
            </a:r>
          </a:p>
          <a:p>
            <a:pPr algn="l">
              <a:spcAft>
                <a:spcPts val="600"/>
              </a:spcAft>
            </a:pPr>
            <a:r>
              <a:rPr lang="en-US" sz="1800" b="1" cap="all" dirty="0"/>
              <a:t>College Name: </a:t>
            </a:r>
            <a:r>
              <a:rPr lang="en-US" sz="1800" cap="all" dirty="0"/>
              <a:t>Akhilesh Das Gupta Institute of professional studies (ggsipu)</a:t>
            </a:r>
          </a:p>
          <a:p>
            <a:pPr algn="l">
              <a:spcAft>
                <a:spcPts val="600"/>
              </a:spcAft>
            </a:pPr>
            <a:r>
              <a:rPr lang="en-US" sz="1800" b="1" cap="all" dirty="0"/>
              <a:t>Department: </a:t>
            </a:r>
            <a:r>
              <a:rPr lang="en-US" sz="1800" cap="all" dirty="0"/>
              <a:t>AI &amp; ML</a:t>
            </a:r>
          </a:p>
          <a:p>
            <a:pPr algn="l">
              <a:spcAft>
                <a:spcPts val="600"/>
              </a:spcAft>
            </a:pPr>
            <a:r>
              <a:rPr lang="en-US" sz="1800" b="1" cap="all" dirty="0"/>
              <a:t>Email ID: </a:t>
            </a:r>
            <a:r>
              <a:rPr lang="en-US" sz="1800" cap="all" dirty="0"/>
              <a:t>HARSH2005.ADGITM@GMAIL.COM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pic>
        <p:nvPicPr>
          <p:cNvPr id="9" name="Picture 8">
            <a:extLst>
              <a:ext uri="{FF2B5EF4-FFF2-40B4-BE49-F238E27FC236}">
                <a16:creationId xmlns:a16="http://schemas.microsoft.com/office/drawing/2014/main" id="{B4288F3F-AD4C-81EA-1336-D2C00EFCC479}"/>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6426420" y="963029"/>
            <a:ext cx="4557923" cy="4936489"/>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1800" b="1" dirty="0">
                <a:latin typeface="Arial"/>
                <a:cs typeface="Arial"/>
              </a:rPr>
              <a:t>Problem Statement </a:t>
            </a:r>
            <a:endParaRPr lang="en-US" sz="1800" dirty="0">
              <a:latin typeface="Arial"/>
              <a:cs typeface="Arial"/>
            </a:endParaRPr>
          </a:p>
          <a:p>
            <a:pPr marL="305435" indent="-305435">
              <a:spcBef>
                <a:spcPct val="20000"/>
              </a:spcBef>
              <a:spcAft>
                <a:spcPts val="600"/>
              </a:spcAft>
            </a:pPr>
            <a:r>
              <a:rPr lang="en-US" sz="1800" b="1" dirty="0">
                <a:latin typeface="Arial"/>
                <a:cs typeface="Arial"/>
              </a:rPr>
              <a:t>Proposed System/Solution</a:t>
            </a:r>
            <a:endParaRPr lang="en-US" sz="1800" dirty="0">
              <a:latin typeface="Arial"/>
              <a:cs typeface="Arial"/>
            </a:endParaRPr>
          </a:p>
          <a:p>
            <a:pPr marL="305435" indent="-305435">
              <a:spcBef>
                <a:spcPct val="20000"/>
              </a:spcBef>
              <a:spcAft>
                <a:spcPts val="600"/>
              </a:spcAft>
            </a:pPr>
            <a:r>
              <a:rPr lang="en-US" sz="1800" b="1" dirty="0">
                <a:latin typeface="Arial"/>
                <a:cs typeface="Arial"/>
              </a:rPr>
              <a:t>System Development Approach </a:t>
            </a:r>
            <a:r>
              <a:rPr lang="en-US" sz="1800" dirty="0">
                <a:latin typeface="Arial"/>
                <a:cs typeface="Arial"/>
              </a:rPr>
              <a:t> </a:t>
            </a:r>
          </a:p>
          <a:p>
            <a:pPr marL="305435" indent="-305435">
              <a:spcBef>
                <a:spcPct val="20000"/>
              </a:spcBef>
              <a:spcAft>
                <a:spcPts val="600"/>
              </a:spcAft>
            </a:pPr>
            <a:r>
              <a:rPr lang="en-US" sz="1800" b="1" dirty="0">
                <a:latin typeface="Arial"/>
                <a:cs typeface="Arial"/>
              </a:rPr>
              <a:t>Algorithm &amp; Deployment  </a:t>
            </a:r>
            <a:endParaRPr lang="en-US" sz="1800" dirty="0">
              <a:latin typeface="Arial"/>
              <a:cs typeface="Arial"/>
            </a:endParaRPr>
          </a:p>
          <a:p>
            <a:pPr marL="305435" indent="-305435">
              <a:spcBef>
                <a:spcPct val="20000"/>
              </a:spcBef>
              <a:spcAft>
                <a:spcPts val="600"/>
              </a:spcAft>
            </a:pPr>
            <a:r>
              <a:rPr lang="en-US" sz="1800" b="1" dirty="0">
                <a:latin typeface="Arial"/>
                <a:cs typeface="Arial"/>
              </a:rPr>
              <a:t>Result </a:t>
            </a:r>
            <a:endParaRPr lang="en-US" sz="1800" dirty="0">
              <a:latin typeface="Arial"/>
              <a:cs typeface="Arial"/>
            </a:endParaRPr>
          </a:p>
          <a:p>
            <a:pPr marL="305435" indent="-305435">
              <a:spcBef>
                <a:spcPct val="20000"/>
              </a:spcBef>
              <a:spcAft>
                <a:spcPts val="600"/>
              </a:spcAft>
            </a:pPr>
            <a:r>
              <a:rPr lang="en-US" sz="1800" b="1" dirty="0">
                <a:latin typeface="Arial"/>
                <a:cs typeface="Arial"/>
              </a:rPr>
              <a:t>Conclusion</a:t>
            </a:r>
            <a:endParaRPr lang="en-US" sz="1800" dirty="0">
              <a:latin typeface="Arial"/>
              <a:cs typeface="Arial"/>
            </a:endParaRPr>
          </a:p>
          <a:p>
            <a:pPr marL="305435" indent="-305435">
              <a:spcBef>
                <a:spcPct val="20000"/>
              </a:spcBef>
              <a:spcAft>
                <a:spcPts val="600"/>
              </a:spcAft>
            </a:pPr>
            <a:r>
              <a:rPr lang="en-US" sz="1800" b="1" dirty="0">
                <a:latin typeface="Arial"/>
                <a:cs typeface="Arial"/>
              </a:rPr>
              <a:t>Future Scope</a:t>
            </a:r>
            <a:endParaRPr lang="en-US" sz="1800" dirty="0">
              <a:latin typeface="Arial"/>
              <a:cs typeface="Arial"/>
            </a:endParaRPr>
          </a:p>
          <a:p>
            <a:pPr marL="305435" indent="-305435">
              <a:spcBef>
                <a:spcPct val="20000"/>
              </a:spcBef>
              <a:spcAft>
                <a:spcPts val="600"/>
              </a:spcAft>
            </a:pPr>
            <a:r>
              <a:rPr lang="en-US" sz="1800" b="1" dirty="0">
                <a:latin typeface="Arial"/>
                <a:cs typeface="Arial"/>
              </a:rPr>
              <a:t>References</a:t>
            </a:r>
            <a:endParaRPr lang="en-US" sz="18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r>
              <a:rPr lang="en-US" sz="1800" dirty="0">
                <a:latin typeface="Arial" panose="020B0604020202020204" pitchFamily="34" charset="0"/>
                <a:cs typeface="Arial" panose="020B0604020202020204" pitchFamily="34" charset="0"/>
              </a:rPr>
              <a:t>Floods are among the most devastating natural disasters in India, causing loss of lives, destruction of property, and significant economic damage every year. Accurate and early flood prediction is critical to help authorities and communities take preventive measures and minimize disaster impacts.</a:t>
            </a:r>
          </a:p>
          <a:p>
            <a:r>
              <a:rPr lang="en-US" sz="1800" dirty="0">
                <a:latin typeface="Arial" panose="020B0604020202020204" pitchFamily="34" charset="0"/>
                <a:cs typeface="Arial" panose="020B0604020202020204" pitchFamily="34" charset="0"/>
              </a:rPr>
              <a:t>This project aims to build a machine learning model that predicts the likelihood of flooding in a given area using three key environmental factors:</a:t>
            </a:r>
            <a:br>
              <a:rPr lang="en-US" sz="1800" dirty="0">
                <a:latin typeface="Arial" panose="020B0604020202020204" pitchFamily="34" charset="0"/>
                <a:cs typeface="Arial" panose="020B0604020202020204" pitchFamily="34" charset="0"/>
              </a:rPr>
            </a:br>
            <a:endParaRPr lang="en-US" sz="1800" dirty="0">
              <a:latin typeface="Arial" panose="020B0604020202020204" pitchFamily="34" charset="0"/>
              <a:cs typeface="Arial" panose="020B0604020202020204" pitchFamily="34" charset="0"/>
            </a:endParaRPr>
          </a:p>
          <a:p>
            <a:r>
              <a:rPr lang="en-US" sz="1800" dirty="0">
                <a:latin typeface="Arial" panose="020B0604020202020204" pitchFamily="34" charset="0"/>
                <a:cs typeface="Arial" panose="020B0604020202020204" pitchFamily="34" charset="0"/>
              </a:rPr>
              <a:t>🌊 River Water Level (m)</a:t>
            </a:r>
          </a:p>
          <a:p>
            <a:r>
              <a:rPr lang="en-US" sz="1800" dirty="0">
                <a:latin typeface="Arial" panose="020B0604020202020204" pitchFamily="34" charset="0"/>
                <a:cs typeface="Arial" panose="020B0604020202020204" pitchFamily="34" charset="0"/>
              </a:rPr>
              <a:t>🌧️ Rainfall (mm)</a:t>
            </a:r>
          </a:p>
          <a:p>
            <a:r>
              <a:rPr lang="en-US" sz="1800" dirty="0">
                <a:latin typeface="Arial" panose="020B0604020202020204" pitchFamily="34" charset="0"/>
                <a:cs typeface="Arial" panose="020B0604020202020204" pitchFamily="34" charset="0"/>
              </a:rPr>
              <a:t>🌱 Soil Moisture (%)</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0" y="638952"/>
            <a:ext cx="10515600" cy="1325563"/>
          </a:xfrm>
        </p:spPr>
        <p:txBody>
          <a:bodyPr lIns="91440" tIns="45720" rIns="91440" bIns="45720" anchor="t">
            <a:normAutofit/>
          </a:bodyPr>
          <a:lstStyle/>
          <a:p>
            <a:r>
              <a:rPr lang="en-US" sz="4000" b="1" cap="all" dirty="0">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47067" y="1406943"/>
            <a:ext cx="10515600" cy="4251960"/>
          </a:xfrm>
        </p:spPr>
        <p:txBody>
          <a:bodyPr vert="horz" lIns="91440" tIns="45720" rIns="91440" bIns="45720" rtlCol="0" anchor="t">
            <a:noAutofit/>
          </a:bodyPr>
          <a:lstStyle/>
          <a:p>
            <a:pPr marL="0" indent="0">
              <a:buNone/>
            </a:pPr>
            <a:r>
              <a:rPr lang="en-US" sz="1800" dirty="0">
                <a:latin typeface="Arial" panose="020B0604020202020204" pitchFamily="34" charset="0"/>
                <a:cs typeface="Arial" panose="020B0604020202020204" pitchFamily="34" charset="0"/>
              </a:rPr>
              <a:t>The proposed solution involves the following steps:</a:t>
            </a:r>
          </a:p>
          <a:p>
            <a:pPr marL="0" indent="0">
              <a:buNone/>
            </a:pPr>
            <a:r>
              <a:rPr lang="en-US" sz="1800" b="1" dirty="0">
                <a:latin typeface="Arial" panose="020B0604020202020204" pitchFamily="34" charset="0"/>
                <a:cs typeface="Arial" panose="020B0604020202020204" pitchFamily="34" charset="0"/>
              </a:rPr>
              <a:t>1. </a:t>
            </a:r>
            <a:r>
              <a:rPr lang="en-US" sz="1800" b="1" u="sng" dirty="0">
                <a:latin typeface="Arial" panose="020B0604020202020204" pitchFamily="34" charset="0"/>
                <a:cs typeface="Arial" panose="020B0604020202020204" pitchFamily="34" charset="0"/>
              </a:rPr>
              <a:t>Data Collection &amp; Preprocessing</a:t>
            </a:r>
            <a:endParaRPr lang="en-US" sz="1800" u="sng" dirty="0">
              <a:latin typeface="Arial" panose="020B0604020202020204" pitchFamily="34" charset="0"/>
              <a:cs typeface="Arial" panose="020B0604020202020204" pitchFamily="34" charset="0"/>
            </a:endParaRPr>
          </a:p>
          <a:p>
            <a:pPr lvl="1"/>
            <a:r>
              <a:rPr lang="en-US" sz="1800" dirty="0">
                <a:latin typeface="Arial" panose="020B0604020202020204" pitchFamily="34" charset="0"/>
                <a:cs typeface="Arial" panose="020B0604020202020204" pitchFamily="34" charset="0"/>
              </a:rPr>
              <a:t>A dataset was prepared containing important features such as </a:t>
            </a:r>
            <a:r>
              <a:rPr lang="en-US" sz="1800" b="1" dirty="0">
                <a:latin typeface="Arial" panose="020B0604020202020204" pitchFamily="34" charset="0"/>
                <a:cs typeface="Arial" panose="020B0604020202020204" pitchFamily="34" charset="0"/>
              </a:rPr>
              <a:t>rainfall, river water levels, and soil moisture</a:t>
            </a:r>
            <a:r>
              <a:rPr lang="en-US" sz="1800" dirty="0">
                <a:latin typeface="Arial" panose="020B0604020202020204" pitchFamily="34" charset="0"/>
                <a:cs typeface="Arial" panose="020B0604020202020204" pitchFamily="34" charset="0"/>
              </a:rPr>
              <a:t>.</a:t>
            </a:r>
          </a:p>
          <a:p>
            <a:pPr lvl="1"/>
            <a:r>
              <a:rPr lang="en-US" sz="1800" dirty="0">
                <a:latin typeface="Arial" panose="020B0604020202020204" pitchFamily="34" charset="0"/>
                <a:cs typeface="Arial" panose="020B0604020202020204" pitchFamily="34" charset="0"/>
              </a:rPr>
              <a:t>The dataset was cleaned by handling missing values and removing inconsistencies.</a:t>
            </a:r>
          </a:p>
          <a:p>
            <a:pPr marL="0" indent="0">
              <a:buNone/>
            </a:pPr>
            <a:r>
              <a:rPr lang="en-US" sz="1800" b="1" dirty="0">
                <a:latin typeface="Arial" panose="020B0604020202020204" pitchFamily="34" charset="0"/>
                <a:cs typeface="Arial" panose="020B0604020202020204" pitchFamily="34" charset="0"/>
              </a:rPr>
              <a:t>2. </a:t>
            </a:r>
            <a:r>
              <a:rPr lang="en-US" sz="1800" b="1" u="sng" dirty="0">
                <a:latin typeface="Arial" panose="020B0604020202020204" pitchFamily="34" charset="0"/>
                <a:cs typeface="Arial" panose="020B0604020202020204" pitchFamily="34" charset="0"/>
              </a:rPr>
              <a:t>Model Development</a:t>
            </a:r>
            <a:endParaRPr lang="en-US" sz="1800" u="sng" dirty="0">
              <a:latin typeface="Arial" panose="020B0604020202020204" pitchFamily="34" charset="0"/>
              <a:cs typeface="Arial" panose="020B0604020202020204" pitchFamily="34" charset="0"/>
            </a:endParaRPr>
          </a:p>
          <a:p>
            <a:pPr lvl="1"/>
            <a:r>
              <a:rPr lang="en-US" sz="1800" dirty="0">
                <a:latin typeface="Arial" panose="020B0604020202020204" pitchFamily="34" charset="0"/>
                <a:cs typeface="Arial" panose="020B0604020202020204" pitchFamily="34" charset="0"/>
              </a:rPr>
              <a:t>A Decision Tree Classifier was implemented using scikit-learn to classify whether a flood would occur (Yes = 1, No = 0).</a:t>
            </a:r>
          </a:p>
          <a:p>
            <a:pPr lvl="1"/>
            <a:r>
              <a:rPr lang="en-US" sz="1800" dirty="0">
                <a:latin typeface="Arial" panose="020B0604020202020204" pitchFamily="34" charset="0"/>
                <a:cs typeface="Arial" panose="020B0604020202020204" pitchFamily="34" charset="0"/>
              </a:rPr>
              <a:t>The dataset was divided into training and testing sets to evaluate model performance.</a:t>
            </a:r>
          </a:p>
          <a:p>
            <a:pPr marL="0" indent="0">
              <a:buNone/>
            </a:pPr>
            <a:r>
              <a:rPr lang="en-US" sz="1800" b="1" dirty="0">
                <a:latin typeface="Arial" panose="020B0604020202020204" pitchFamily="34" charset="0"/>
                <a:cs typeface="Arial" panose="020B0604020202020204" pitchFamily="34" charset="0"/>
              </a:rPr>
              <a:t>3. </a:t>
            </a:r>
            <a:r>
              <a:rPr lang="en-US" sz="1800" b="1" u="sng" dirty="0">
                <a:latin typeface="Arial" panose="020B0604020202020204" pitchFamily="34" charset="0"/>
                <a:cs typeface="Arial" panose="020B0604020202020204" pitchFamily="34" charset="0"/>
              </a:rPr>
              <a:t>User Interaction</a:t>
            </a:r>
            <a:endParaRPr lang="en-US" sz="1800" u="sng" dirty="0">
              <a:latin typeface="Arial" panose="020B0604020202020204" pitchFamily="34" charset="0"/>
              <a:cs typeface="Arial" panose="020B0604020202020204" pitchFamily="34" charset="0"/>
            </a:endParaRPr>
          </a:p>
          <a:p>
            <a:pPr lvl="1"/>
            <a:r>
              <a:rPr lang="en-US" sz="1800" dirty="0">
                <a:latin typeface="Arial" panose="020B0604020202020204" pitchFamily="34" charset="0"/>
                <a:cs typeface="Arial" panose="020B0604020202020204" pitchFamily="34" charset="0"/>
              </a:rPr>
              <a:t>The model accepts user input values (rainfall, river level, and soil moisture) and predicts the likelihood of a flood.</a:t>
            </a:r>
          </a:p>
          <a:p>
            <a:pPr lvl="1"/>
            <a:r>
              <a:rPr lang="en-US" sz="1800" dirty="0">
                <a:latin typeface="Arial" panose="020B0604020202020204" pitchFamily="34" charset="0"/>
                <a:cs typeface="Arial" panose="020B0604020202020204" pitchFamily="34" charset="0"/>
              </a:rPr>
              <a:t>This makes the system interactive and usable in real-world applications.</a:t>
            </a:r>
          </a:p>
          <a:p>
            <a:pPr marL="0" indent="0">
              <a:buNone/>
            </a:pPr>
            <a:r>
              <a:rPr lang="en-US" sz="1800" b="1" dirty="0">
                <a:latin typeface="Arial" panose="020B0604020202020204" pitchFamily="34" charset="0"/>
                <a:cs typeface="Arial" panose="020B0604020202020204" pitchFamily="34" charset="0"/>
              </a:rPr>
              <a:t>4. </a:t>
            </a:r>
            <a:r>
              <a:rPr lang="en-US" sz="1800" b="1" u="sng" dirty="0">
                <a:latin typeface="Arial" panose="020B0604020202020204" pitchFamily="34" charset="0"/>
                <a:cs typeface="Arial" panose="020B0604020202020204" pitchFamily="34" charset="0"/>
              </a:rPr>
              <a:t>Results &amp; Evaluation</a:t>
            </a:r>
            <a:endParaRPr lang="en-US" sz="1800" u="sng" dirty="0">
              <a:latin typeface="Arial" panose="020B0604020202020204" pitchFamily="34" charset="0"/>
              <a:cs typeface="Arial" panose="020B0604020202020204" pitchFamily="34" charset="0"/>
            </a:endParaRPr>
          </a:p>
          <a:p>
            <a:pPr lvl="1"/>
            <a:r>
              <a:rPr lang="en-US" sz="1800" dirty="0">
                <a:latin typeface="Arial" panose="020B0604020202020204" pitchFamily="34" charset="0"/>
                <a:cs typeface="Arial" panose="020B0604020202020204" pitchFamily="34" charset="0"/>
              </a:rPr>
              <a:t>The model achieved an accuracy of 74%, showing that machine learning can effectively predict flood risk with the given features.</a:t>
            </a:r>
          </a:p>
          <a:p>
            <a:pPr marL="0" indent="0">
              <a:spcBef>
                <a:spcPct val="20000"/>
              </a:spcBef>
              <a:spcAft>
                <a:spcPts val="600"/>
              </a:spcAft>
              <a:buNone/>
            </a:pPr>
            <a:endParaRPr lang="en-GB" sz="12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8" y="1436913"/>
            <a:ext cx="10599407" cy="4954555"/>
          </a:xfrm>
        </p:spPr>
        <p:txBody>
          <a:bodyPr vert="horz" lIns="91440" tIns="45720" rIns="91440" bIns="45720" rtlCol="0">
            <a:normAutofit fontScale="40000" lnSpcReduction="20000"/>
          </a:bodyPr>
          <a:lstStyle/>
          <a:p>
            <a:pPr>
              <a:buNone/>
            </a:pPr>
            <a:r>
              <a:rPr lang="en-US" sz="3800" b="1" dirty="0">
                <a:latin typeface="Arial" panose="020B0604020202020204" pitchFamily="34" charset="0"/>
                <a:cs typeface="Arial" panose="020B0604020202020204" pitchFamily="34" charset="0"/>
              </a:rPr>
              <a:t>1. </a:t>
            </a:r>
            <a:r>
              <a:rPr lang="en-US" sz="3800" b="1" u="sng" dirty="0">
                <a:latin typeface="Arial" panose="020B0604020202020204" pitchFamily="34" charset="0"/>
                <a:cs typeface="Arial" panose="020B0604020202020204" pitchFamily="34" charset="0"/>
              </a:rPr>
              <a:t>Problem Identification</a:t>
            </a:r>
          </a:p>
          <a:p>
            <a:r>
              <a:rPr lang="en-US" sz="3800" dirty="0">
                <a:latin typeface="Arial" panose="020B0604020202020204" pitchFamily="34" charset="0"/>
                <a:cs typeface="Arial" panose="020B0604020202020204" pitchFamily="34" charset="0"/>
              </a:rPr>
              <a:t>Floods are a recurring natural disaster in India, often causing loss of life, property, and agricultural damage.</a:t>
            </a:r>
          </a:p>
          <a:p>
            <a:r>
              <a:rPr lang="en-US" sz="3800" dirty="0">
                <a:latin typeface="Arial" panose="020B0604020202020204" pitchFamily="34" charset="0"/>
                <a:cs typeface="Arial" panose="020B0604020202020204" pitchFamily="34" charset="0"/>
              </a:rPr>
              <a:t>The goal of this project is to build a machine learning-based model that can predict the possibility of a flood based on key environmental factors.</a:t>
            </a:r>
          </a:p>
          <a:p>
            <a:pPr>
              <a:buNone/>
            </a:pPr>
            <a:r>
              <a:rPr lang="en-US" sz="3800" b="1" dirty="0">
                <a:latin typeface="Arial" panose="020B0604020202020204" pitchFamily="34" charset="0"/>
                <a:cs typeface="Arial" panose="020B0604020202020204" pitchFamily="34" charset="0"/>
              </a:rPr>
              <a:t>2. </a:t>
            </a:r>
            <a:r>
              <a:rPr lang="en-US" sz="3800" b="1" u="sng" dirty="0">
                <a:latin typeface="Arial" panose="020B0604020202020204" pitchFamily="34" charset="0"/>
                <a:cs typeface="Arial" panose="020B0604020202020204" pitchFamily="34" charset="0"/>
              </a:rPr>
              <a:t>Data Collection</a:t>
            </a:r>
          </a:p>
          <a:p>
            <a:r>
              <a:rPr lang="en-US" sz="3800" dirty="0">
                <a:latin typeface="Arial" panose="020B0604020202020204" pitchFamily="34" charset="0"/>
                <a:cs typeface="Arial" panose="020B0604020202020204" pitchFamily="34" charset="0"/>
              </a:rPr>
              <a:t>A dataset was created containing rainfall, river water level, and soil moisture values from Kaggle.</a:t>
            </a:r>
          </a:p>
          <a:p>
            <a:pPr>
              <a:buNone/>
            </a:pPr>
            <a:r>
              <a:rPr lang="en-US" sz="3800" b="1" dirty="0">
                <a:latin typeface="Arial" panose="020B0604020202020204" pitchFamily="34" charset="0"/>
                <a:cs typeface="Arial" panose="020B0604020202020204" pitchFamily="34" charset="0"/>
              </a:rPr>
              <a:t>3. </a:t>
            </a:r>
            <a:r>
              <a:rPr lang="en-US" sz="3800" b="1" u="sng" dirty="0">
                <a:latin typeface="Arial" panose="020B0604020202020204" pitchFamily="34" charset="0"/>
                <a:cs typeface="Arial" panose="020B0604020202020204" pitchFamily="34" charset="0"/>
              </a:rPr>
              <a:t>Data Preprocessing</a:t>
            </a:r>
          </a:p>
          <a:p>
            <a:r>
              <a:rPr lang="en-US" sz="3800" dirty="0">
                <a:latin typeface="Arial" panose="020B0604020202020204" pitchFamily="34" charset="0"/>
                <a:cs typeface="Arial" panose="020B0604020202020204" pitchFamily="34" charset="0"/>
              </a:rPr>
              <a:t>The dataset was explored using .info(), .describe(), and .</a:t>
            </a:r>
            <a:r>
              <a:rPr lang="en-US" sz="3800" dirty="0" err="1">
                <a:latin typeface="Arial" panose="020B0604020202020204" pitchFamily="34" charset="0"/>
                <a:cs typeface="Arial" panose="020B0604020202020204" pitchFamily="34" charset="0"/>
              </a:rPr>
              <a:t>isnull</a:t>
            </a:r>
            <a:r>
              <a:rPr lang="en-US" sz="3800" dirty="0">
                <a:latin typeface="Arial" panose="020B0604020202020204" pitchFamily="34" charset="0"/>
                <a:cs typeface="Arial" panose="020B0604020202020204" pitchFamily="34" charset="0"/>
              </a:rPr>
              <a:t>().sum() to check for missing and inconsistent values.</a:t>
            </a:r>
          </a:p>
          <a:p>
            <a:r>
              <a:rPr lang="en-US" sz="3800" dirty="0">
                <a:latin typeface="Arial" panose="020B0604020202020204" pitchFamily="34" charset="0"/>
                <a:cs typeface="Arial" panose="020B0604020202020204" pitchFamily="34" charset="0"/>
              </a:rPr>
              <a:t>Missing values were handled by cleaning or removing rows with incomplete data.</a:t>
            </a:r>
          </a:p>
          <a:p>
            <a:r>
              <a:rPr lang="en-US" sz="3800" dirty="0">
                <a:latin typeface="Arial" panose="020B0604020202020204" pitchFamily="34" charset="0"/>
                <a:cs typeface="Arial" panose="020B0604020202020204" pitchFamily="34" charset="0"/>
              </a:rPr>
              <a:t>The dataset was then normalized and prepared for model training.</a:t>
            </a:r>
          </a:p>
          <a:p>
            <a:pPr>
              <a:buNone/>
            </a:pPr>
            <a:r>
              <a:rPr lang="en-US" sz="3800" b="1" dirty="0">
                <a:latin typeface="Arial" panose="020B0604020202020204" pitchFamily="34" charset="0"/>
                <a:cs typeface="Arial" panose="020B0604020202020204" pitchFamily="34" charset="0"/>
              </a:rPr>
              <a:t>4. </a:t>
            </a:r>
            <a:r>
              <a:rPr lang="en-US" sz="3800" b="1" u="sng" dirty="0">
                <a:latin typeface="Arial" panose="020B0604020202020204" pitchFamily="34" charset="0"/>
                <a:cs typeface="Arial" panose="020B0604020202020204" pitchFamily="34" charset="0"/>
              </a:rPr>
              <a:t>Model Development</a:t>
            </a:r>
          </a:p>
          <a:p>
            <a:r>
              <a:rPr lang="en-US" sz="3800" dirty="0">
                <a:latin typeface="Arial" panose="020B0604020202020204" pitchFamily="34" charset="0"/>
                <a:cs typeface="Arial" panose="020B0604020202020204" pitchFamily="34" charset="0"/>
              </a:rPr>
              <a:t>The features (Rainfall, River_Level, </a:t>
            </a:r>
            <a:r>
              <a:rPr lang="en-US" sz="3800" dirty="0" err="1">
                <a:latin typeface="Arial" panose="020B0604020202020204" pitchFamily="34" charset="0"/>
                <a:cs typeface="Arial" panose="020B0604020202020204" pitchFamily="34" charset="0"/>
              </a:rPr>
              <a:t>Soil_Moisture</a:t>
            </a:r>
            <a:r>
              <a:rPr lang="en-US" sz="3800" dirty="0">
                <a:latin typeface="Arial" panose="020B0604020202020204" pitchFamily="34" charset="0"/>
                <a:cs typeface="Arial" panose="020B0604020202020204" pitchFamily="34" charset="0"/>
              </a:rPr>
              <a:t>) were selected as independent variables, and Flood (Yes/No) was chosen as the target variable.</a:t>
            </a:r>
          </a:p>
          <a:p>
            <a:pPr>
              <a:buNone/>
            </a:pPr>
            <a:r>
              <a:rPr lang="en-US" sz="3800" b="1" dirty="0">
                <a:latin typeface="Arial" panose="020B0604020202020204" pitchFamily="34" charset="0"/>
                <a:cs typeface="Arial" panose="020B0604020202020204" pitchFamily="34" charset="0"/>
              </a:rPr>
              <a:t>5. </a:t>
            </a:r>
            <a:r>
              <a:rPr lang="en-US" sz="3800" b="1" u="sng" dirty="0">
                <a:latin typeface="Arial" panose="020B0604020202020204" pitchFamily="34" charset="0"/>
                <a:cs typeface="Arial" panose="020B0604020202020204" pitchFamily="34" charset="0"/>
              </a:rPr>
              <a:t>Model Evaluation</a:t>
            </a:r>
          </a:p>
          <a:p>
            <a:r>
              <a:rPr lang="en-US" sz="3800" dirty="0">
                <a:latin typeface="Arial" panose="020B0604020202020204" pitchFamily="34" charset="0"/>
                <a:cs typeface="Arial" panose="020B0604020202020204" pitchFamily="34" charset="0"/>
              </a:rPr>
              <a:t>The model was evaluated using accuracy score on the testing set.</a:t>
            </a:r>
          </a:p>
          <a:p>
            <a:pPr>
              <a:buNone/>
            </a:pPr>
            <a:r>
              <a:rPr lang="en-US" sz="3800" b="1" dirty="0">
                <a:latin typeface="Arial" panose="020B0604020202020204" pitchFamily="34" charset="0"/>
                <a:cs typeface="Arial" panose="020B0604020202020204" pitchFamily="34" charset="0"/>
              </a:rPr>
              <a:t>6. </a:t>
            </a:r>
            <a:r>
              <a:rPr lang="en-US" sz="3800" b="1" u="sng" dirty="0">
                <a:latin typeface="Arial" panose="020B0604020202020204" pitchFamily="34" charset="0"/>
                <a:cs typeface="Arial" panose="020B0604020202020204" pitchFamily="34" charset="0"/>
              </a:rPr>
              <a:t>User Interaction</a:t>
            </a:r>
          </a:p>
          <a:p>
            <a:r>
              <a:rPr lang="en-US" sz="3800" dirty="0">
                <a:latin typeface="Arial" panose="020B0604020202020204" pitchFamily="34" charset="0"/>
                <a:cs typeface="Arial" panose="020B0604020202020204" pitchFamily="34" charset="0"/>
              </a:rPr>
              <a:t>The model was extended to take user inputs for rainfall, river level, and soil moisture.</a:t>
            </a:r>
          </a:p>
          <a:p>
            <a:r>
              <a:rPr lang="en-US" sz="3800" dirty="0">
                <a:latin typeface="Arial" panose="020B0604020202020204" pitchFamily="34" charset="0"/>
                <a:cs typeface="Arial" panose="020B0604020202020204" pitchFamily="34" charset="0"/>
              </a:rPr>
              <a:t>Predictions are displayed interactively, showing whether a flood is likely to occur or not in the deployed state.</a:t>
            </a:r>
          </a:p>
          <a:p>
            <a:pPr marL="0" indent="0">
              <a:spcBef>
                <a:spcPct val="20000"/>
              </a:spcBef>
              <a:spcAft>
                <a:spcPts val="600"/>
              </a:spcAft>
              <a:buNone/>
            </a:pPr>
            <a:endParaRPr lang="en-GB" sz="22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599210"/>
          </a:xfrm>
        </p:spPr>
        <p:txBody>
          <a:bodyPr vert="horz" lIns="91440" tIns="45720" rIns="91440" bIns="45720" rtlCol="0">
            <a:normAutofit fontScale="85000" lnSpcReduction="20000"/>
          </a:bodyPr>
          <a:lstStyle/>
          <a:p>
            <a:pPr marL="0" lvl="0" indent="0" eaLnBrk="0" fontAlgn="base" hangingPunct="0">
              <a:lnSpc>
                <a:spcPct val="100000"/>
              </a:lnSpc>
              <a:spcBef>
                <a:spcPct val="0"/>
              </a:spcBef>
              <a:spcAft>
                <a:spcPct val="0"/>
              </a:spcAft>
              <a:buNone/>
            </a:pPr>
            <a:r>
              <a:rPr lang="en-US" altLang="en-US" sz="2100" b="1" dirty="0">
                <a:latin typeface="Arial" panose="020B0604020202020204" pitchFamily="34" charset="0"/>
                <a:cs typeface="Arial" panose="020B0604020202020204" pitchFamily="34" charset="0"/>
              </a:rPr>
              <a:t>1. Understand Flood Prediction Concepts</a:t>
            </a:r>
          </a:p>
          <a:p>
            <a:pPr marL="0" lvl="0" indent="0" eaLnBrk="0" fontAlgn="base" hangingPunct="0">
              <a:lnSpc>
                <a:spcPct val="100000"/>
              </a:lnSpc>
              <a:spcBef>
                <a:spcPct val="0"/>
              </a:spcBef>
              <a:spcAft>
                <a:spcPct val="0"/>
              </a:spcAft>
              <a:buFontTx/>
              <a:buChar char="•"/>
            </a:pPr>
            <a:r>
              <a:rPr lang="en-US" altLang="en-US" sz="2100" dirty="0">
                <a:latin typeface="Arial" panose="020B0604020202020204" pitchFamily="34" charset="0"/>
                <a:cs typeface="Arial" panose="020B0604020202020204" pitchFamily="34" charset="0"/>
              </a:rPr>
              <a:t> Learn how environmental factors like rainfall, river level, and soil moisture contribute to floods.</a:t>
            </a:r>
          </a:p>
          <a:p>
            <a:pPr marL="0" lvl="0" indent="0" eaLnBrk="0" fontAlgn="base" hangingPunct="0">
              <a:lnSpc>
                <a:spcPct val="100000"/>
              </a:lnSpc>
              <a:spcBef>
                <a:spcPct val="0"/>
              </a:spcBef>
              <a:spcAft>
                <a:spcPct val="0"/>
              </a:spcAft>
              <a:buFontTx/>
              <a:buChar char="•"/>
            </a:pPr>
            <a:r>
              <a:rPr lang="en-US" altLang="en-US" sz="2100" dirty="0">
                <a:latin typeface="Arial" panose="020B0604020202020204" pitchFamily="34" charset="0"/>
                <a:cs typeface="Arial" panose="020B0604020202020204" pitchFamily="34" charset="0"/>
              </a:rPr>
              <a:t> Recognize the importance of early prediction in disaster management and community safety.</a:t>
            </a:r>
            <a:br>
              <a:rPr lang="en-US" altLang="en-US" sz="2100" dirty="0">
                <a:latin typeface="Arial" panose="020B0604020202020204" pitchFamily="34" charset="0"/>
                <a:cs typeface="Arial" panose="020B0604020202020204" pitchFamily="34" charset="0"/>
              </a:rPr>
            </a:br>
            <a:endParaRPr lang="en-US" altLang="en-US" sz="2100" dirty="0">
              <a:latin typeface="Arial" panose="020B0604020202020204" pitchFamily="34" charset="0"/>
              <a:cs typeface="Arial" panose="020B0604020202020204" pitchFamily="34" charset="0"/>
            </a:endParaRPr>
          </a:p>
          <a:p>
            <a:pPr marL="0" lvl="0" indent="0" eaLnBrk="0" fontAlgn="base" hangingPunct="0">
              <a:lnSpc>
                <a:spcPct val="100000"/>
              </a:lnSpc>
              <a:spcBef>
                <a:spcPct val="0"/>
              </a:spcBef>
              <a:spcAft>
                <a:spcPct val="0"/>
              </a:spcAft>
              <a:buNone/>
            </a:pPr>
            <a:r>
              <a:rPr lang="en-US" altLang="en-US" sz="2100" b="1" dirty="0">
                <a:latin typeface="Arial" panose="020B0604020202020204" pitchFamily="34" charset="0"/>
                <a:cs typeface="Arial" panose="020B0604020202020204" pitchFamily="34" charset="0"/>
              </a:rPr>
              <a:t>2. Data Handling Skills</a:t>
            </a:r>
          </a:p>
          <a:p>
            <a:pPr marL="0" lvl="0" indent="0" eaLnBrk="0" fontAlgn="base" hangingPunct="0">
              <a:lnSpc>
                <a:spcPct val="100000"/>
              </a:lnSpc>
              <a:spcBef>
                <a:spcPct val="0"/>
              </a:spcBef>
              <a:spcAft>
                <a:spcPct val="0"/>
              </a:spcAft>
              <a:buFontTx/>
              <a:buChar char="•"/>
            </a:pPr>
            <a:r>
              <a:rPr lang="en-US" altLang="en-US" sz="2100" dirty="0">
                <a:latin typeface="Arial" panose="020B0604020202020204" pitchFamily="34" charset="0"/>
                <a:cs typeface="Arial" panose="020B0604020202020204" pitchFamily="34" charset="0"/>
              </a:rPr>
              <a:t> Gain experience in importing, cleaning, and preprocessing datasets using pandas and </a:t>
            </a:r>
            <a:r>
              <a:rPr lang="en-US" altLang="en-US" sz="2100" dirty="0" err="1">
                <a:latin typeface="Arial" panose="020B0604020202020204" pitchFamily="34" charset="0"/>
                <a:cs typeface="Arial" panose="020B0604020202020204" pitchFamily="34" charset="0"/>
              </a:rPr>
              <a:t>numpy</a:t>
            </a:r>
            <a:r>
              <a:rPr lang="en-US" altLang="en-US" sz="2100" dirty="0">
                <a:latin typeface="Arial" panose="020B0604020202020204" pitchFamily="34" charset="0"/>
                <a:cs typeface="Arial" panose="020B0604020202020204" pitchFamily="34" charset="0"/>
              </a:rPr>
              <a:t>.</a:t>
            </a:r>
          </a:p>
          <a:p>
            <a:pPr marL="0" lvl="0" indent="0" eaLnBrk="0" fontAlgn="base" hangingPunct="0">
              <a:lnSpc>
                <a:spcPct val="100000"/>
              </a:lnSpc>
              <a:spcBef>
                <a:spcPct val="0"/>
              </a:spcBef>
              <a:spcAft>
                <a:spcPct val="0"/>
              </a:spcAft>
              <a:buFontTx/>
              <a:buChar char="•"/>
            </a:pPr>
            <a:r>
              <a:rPr lang="en-US" altLang="en-US" sz="2100" dirty="0">
                <a:latin typeface="Arial" panose="020B0604020202020204" pitchFamily="34" charset="0"/>
                <a:cs typeface="Arial" panose="020B0604020202020204" pitchFamily="34" charset="0"/>
              </a:rPr>
              <a:t> Learn to identify and manage missing values, outliers, and imbalanced data.</a:t>
            </a:r>
            <a:br>
              <a:rPr lang="en-US" altLang="en-US" sz="2100" dirty="0">
                <a:latin typeface="Arial" panose="020B0604020202020204" pitchFamily="34" charset="0"/>
                <a:cs typeface="Arial" panose="020B0604020202020204" pitchFamily="34" charset="0"/>
              </a:rPr>
            </a:br>
            <a:endParaRPr lang="en-US" altLang="en-US" sz="2100" dirty="0">
              <a:latin typeface="Arial" panose="020B0604020202020204" pitchFamily="34" charset="0"/>
              <a:cs typeface="Arial" panose="020B0604020202020204" pitchFamily="34" charset="0"/>
            </a:endParaRPr>
          </a:p>
          <a:p>
            <a:pPr marL="0" lvl="0" indent="0" eaLnBrk="0" fontAlgn="base" hangingPunct="0">
              <a:lnSpc>
                <a:spcPct val="100000"/>
              </a:lnSpc>
              <a:spcBef>
                <a:spcPct val="0"/>
              </a:spcBef>
              <a:spcAft>
                <a:spcPct val="0"/>
              </a:spcAft>
              <a:buNone/>
            </a:pPr>
            <a:r>
              <a:rPr lang="en-US" altLang="en-US" sz="2100" b="1" dirty="0">
                <a:latin typeface="Arial" panose="020B0604020202020204" pitchFamily="34" charset="0"/>
                <a:cs typeface="Arial" panose="020B0604020202020204" pitchFamily="34" charset="0"/>
              </a:rPr>
              <a:t>3. Exploratory Data Analysis (EDA)</a:t>
            </a:r>
          </a:p>
          <a:p>
            <a:pPr marL="0" lvl="0" indent="0" eaLnBrk="0" fontAlgn="base" hangingPunct="0">
              <a:lnSpc>
                <a:spcPct val="100000"/>
              </a:lnSpc>
              <a:spcBef>
                <a:spcPct val="0"/>
              </a:spcBef>
              <a:spcAft>
                <a:spcPct val="0"/>
              </a:spcAft>
              <a:buFontTx/>
              <a:buChar char="•"/>
            </a:pPr>
            <a:r>
              <a:rPr lang="en-US" altLang="en-US" sz="2100" dirty="0">
                <a:latin typeface="Arial" panose="020B0604020202020204" pitchFamily="34" charset="0"/>
                <a:cs typeface="Arial" panose="020B0604020202020204" pitchFamily="34" charset="0"/>
              </a:rPr>
              <a:t> Perform data visualization using matplotlib and seaborn to uncover trends and patterns.</a:t>
            </a:r>
          </a:p>
          <a:p>
            <a:pPr marL="0" lvl="0" indent="0" eaLnBrk="0" fontAlgn="base" hangingPunct="0">
              <a:lnSpc>
                <a:spcPct val="100000"/>
              </a:lnSpc>
              <a:spcBef>
                <a:spcPct val="0"/>
              </a:spcBef>
              <a:spcAft>
                <a:spcPct val="0"/>
              </a:spcAft>
              <a:buFontTx/>
              <a:buChar char="•"/>
            </a:pPr>
            <a:r>
              <a:rPr lang="en-US" altLang="en-US" sz="2100" dirty="0">
                <a:latin typeface="Arial" panose="020B0604020202020204" pitchFamily="34" charset="0"/>
                <a:cs typeface="Arial" panose="020B0604020202020204" pitchFamily="34" charset="0"/>
              </a:rPr>
              <a:t> Use statistical summaries (.info(), .describe(), .</a:t>
            </a:r>
            <a:r>
              <a:rPr lang="en-US" altLang="en-US" sz="2100" dirty="0" err="1">
                <a:latin typeface="Arial" panose="020B0604020202020204" pitchFamily="34" charset="0"/>
                <a:cs typeface="Arial" panose="020B0604020202020204" pitchFamily="34" charset="0"/>
              </a:rPr>
              <a:t>isnull</a:t>
            </a:r>
            <a:r>
              <a:rPr lang="en-US" altLang="en-US" sz="2100" dirty="0">
                <a:latin typeface="Arial" panose="020B0604020202020204" pitchFamily="34" charset="0"/>
                <a:cs typeface="Arial" panose="020B0604020202020204" pitchFamily="34" charset="0"/>
              </a:rPr>
              <a:t>().sum()) to understand dataset quality.</a:t>
            </a:r>
            <a:br>
              <a:rPr lang="en-US" altLang="en-US" sz="2100" dirty="0">
                <a:latin typeface="Arial" panose="020B0604020202020204" pitchFamily="34" charset="0"/>
                <a:cs typeface="Arial" panose="020B0604020202020204" pitchFamily="34" charset="0"/>
              </a:rPr>
            </a:br>
            <a:endParaRPr lang="en-US" altLang="en-US" sz="2100" dirty="0">
              <a:latin typeface="Arial" panose="020B0604020202020204" pitchFamily="34" charset="0"/>
              <a:cs typeface="Arial" panose="020B0604020202020204" pitchFamily="34" charset="0"/>
            </a:endParaRPr>
          </a:p>
          <a:p>
            <a:pPr marL="0" lvl="0" indent="0" eaLnBrk="0" fontAlgn="base" hangingPunct="0">
              <a:lnSpc>
                <a:spcPct val="100000"/>
              </a:lnSpc>
              <a:spcBef>
                <a:spcPct val="0"/>
              </a:spcBef>
              <a:spcAft>
                <a:spcPct val="0"/>
              </a:spcAft>
              <a:buNone/>
            </a:pPr>
            <a:r>
              <a:rPr lang="en-US" altLang="en-US" sz="2100" b="1" dirty="0">
                <a:latin typeface="Arial" panose="020B0604020202020204" pitchFamily="34" charset="0"/>
                <a:cs typeface="Arial" panose="020B0604020202020204" pitchFamily="34" charset="0"/>
              </a:rPr>
              <a:t>4. Machine Learning Model Development</a:t>
            </a:r>
          </a:p>
          <a:p>
            <a:pPr marL="0" lvl="0" indent="0" eaLnBrk="0" fontAlgn="base" hangingPunct="0">
              <a:lnSpc>
                <a:spcPct val="100000"/>
              </a:lnSpc>
              <a:spcBef>
                <a:spcPct val="0"/>
              </a:spcBef>
              <a:spcAft>
                <a:spcPct val="0"/>
              </a:spcAft>
              <a:buFontTx/>
              <a:buChar char="•"/>
            </a:pPr>
            <a:r>
              <a:rPr lang="en-US" altLang="en-US" sz="2100" dirty="0">
                <a:latin typeface="Arial" panose="020B0604020202020204" pitchFamily="34" charset="0"/>
                <a:cs typeface="Arial" panose="020B0604020202020204" pitchFamily="34" charset="0"/>
              </a:rPr>
              <a:t> Train and test a Decision Tree Classifier to predict flood occurrence.</a:t>
            </a:r>
          </a:p>
          <a:p>
            <a:pPr marL="0" lvl="0" indent="0" eaLnBrk="0" fontAlgn="base" hangingPunct="0">
              <a:lnSpc>
                <a:spcPct val="100000"/>
              </a:lnSpc>
              <a:spcBef>
                <a:spcPct val="0"/>
              </a:spcBef>
              <a:spcAft>
                <a:spcPct val="0"/>
              </a:spcAft>
              <a:buFontTx/>
              <a:buChar char="•"/>
            </a:pPr>
            <a:r>
              <a:rPr lang="en-US" altLang="en-US" sz="2100" dirty="0">
                <a:latin typeface="Arial" panose="020B0604020202020204" pitchFamily="34" charset="0"/>
                <a:cs typeface="Arial" panose="020B0604020202020204" pitchFamily="34" charset="0"/>
              </a:rPr>
              <a:t> Understand the workflow of splitting data into training and testing sets.</a:t>
            </a:r>
          </a:p>
          <a:p>
            <a:pPr marL="0" lvl="0" indent="0" eaLnBrk="0" fontAlgn="base" hangingPunct="0">
              <a:lnSpc>
                <a:spcPct val="100000"/>
              </a:lnSpc>
              <a:spcBef>
                <a:spcPct val="0"/>
              </a:spcBef>
              <a:spcAft>
                <a:spcPct val="0"/>
              </a:spcAft>
              <a:buFontTx/>
              <a:buChar char="•"/>
            </a:pPr>
            <a:r>
              <a:rPr lang="en-US" altLang="en-US" sz="2100" dirty="0">
                <a:latin typeface="Arial" panose="020B0604020202020204" pitchFamily="34" charset="0"/>
                <a:cs typeface="Arial" panose="020B0604020202020204" pitchFamily="34" charset="0"/>
              </a:rPr>
              <a:t> Learn how to measure performance using accuracy score.</a:t>
            </a:r>
            <a:br>
              <a:rPr lang="en-US" altLang="en-US" sz="2100" dirty="0">
                <a:latin typeface="Arial" panose="020B0604020202020204" pitchFamily="34" charset="0"/>
                <a:cs typeface="Arial" panose="020B0604020202020204" pitchFamily="34" charset="0"/>
              </a:rPr>
            </a:br>
            <a:endParaRPr lang="en-US" altLang="en-US" sz="2100" dirty="0">
              <a:latin typeface="Arial" panose="020B0604020202020204" pitchFamily="34" charset="0"/>
              <a:cs typeface="Arial" panose="020B0604020202020204" pitchFamily="34" charset="0"/>
            </a:endParaRPr>
          </a:p>
          <a:p>
            <a:pPr marL="0" lvl="0" indent="0" eaLnBrk="0" fontAlgn="base" hangingPunct="0">
              <a:lnSpc>
                <a:spcPct val="100000"/>
              </a:lnSpc>
              <a:spcBef>
                <a:spcPct val="0"/>
              </a:spcBef>
              <a:spcAft>
                <a:spcPct val="0"/>
              </a:spcAft>
              <a:buNone/>
            </a:pPr>
            <a:r>
              <a:rPr lang="en-US" altLang="en-US" sz="2100" b="1" dirty="0">
                <a:latin typeface="Arial" panose="020B0604020202020204" pitchFamily="34" charset="0"/>
                <a:cs typeface="Arial" panose="020B0604020202020204" pitchFamily="34" charset="0"/>
              </a:rPr>
              <a:t>5. Practical Application</a:t>
            </a:r>
          </a:p>
          <a:p>
            <a:pPr marL="0" lvl="0" indent="0" eaLnBrk="0" fontAlgn="base" hangingPunct="0">
              <a:lnSpc>
                <a:spcPct val="100000"/>
              </a:lnSpc>
              <a:spcBef>
                <a:spcPct val="0"/>
              </a:spcBef>
              <a:spcAft>
                <a:spcPct val="0"/>
              </a:spcAft>
              <a:buFontTx/>
              <a:buChar char="•"/>
            </a:pPr>
            <a:r>
              <a:rPr lang="en-US" altLang="en-US" sz="2100" dirty="0">
                <a:latin typeface="Arial" panose="020B0604020202020204" pitchFamily="34" charset="0"/>
                <a:cs typeface="Arial" panose="020B0604020202020204" pitchFamily="34" charset="0"/>
              </a:rPr>
              <a:t> Built interactive model that accepts user inputs (rainfall, river level, soil moisture) and predict flood.</a:t>
            </a:r>
            <a:endParaRPr lang="en-GB" sz="1500" dirty="0"/>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pic>
        <p:nvPicPr>
          <p:cNvPr id="6" name="Picture 5">
            <a:extLst>
              <a:ext uri="{FF2B5EF4-FFF2-40B4-BE49-F238E27FC236}">
                <a16:creationId xmlns:a16="http://schemas.microsoft.com/office/drawing/2014/main" id="{2249AEB2-9478-A2BC-04DF-C20B4EA0D5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868" y="1567542"/>
            <a:ext cx="4239389" cy="4385388"/>
          </a:xfrm>
          <a:prstGeom prst="rect">
            <a:avLst/>
          </a:prstGeom>
        </p:spPr>
      </p:pic>
      <p:pic>
        <p:nvPicPr>
          <p:cNvPr id="8" name="Picture 7">
            <a:extLst>
              <a:ext uri="{FF2B5EF4-FFF2-40B4-BE49-F238E27FC236}">
                <a16:creationId xmlns:a16="http://schemas.microsoft.com/office/drawing/2014/main" id="{1DAC44A9-1B03-0F6E-1DB2-973A04F75D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32316" y="1567543"/>
            <a:ext cx="6913816" cy="4385388"/>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9BE51D-FD9A-31F1-C8BF-725791071AC1}"/>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2FD495-F4DD-0F3A-7774-26FEDCEC39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958" y="1352938"/>
            <a:ext cx="11472083" cy="4529683"/>
          </a:xfrm>
          <a:prstGeom prst="rect">
            <a:avLst/>
          </a:prstGeom>
        </p:spPr>
      </p:pic>
    </p:spTree>
    <p:extLst>
      <p:ext uri="{BB962C8B-B14F-4D97-AF65-F5344CB8AC3E}">
        <p14:creationId xmlns:p14="http://schemas.microsoft.com/office/powerpoint/2010/main" val="2574779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C869EF-3800-DC36-7759-BB6B6831EAF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089A3A3-DC4E-5DB1-4180-F5DC50638D6A}"/>
              </a:ext>
            </a:extLst>
          </p:cNvPr>
          <p:cNvPicPr>
            <a:picLocks noChangeAspect="1"/>
          </p:cNvPicPr>
          <p:nvPr/>
        </p:nvPicPr>
        <p:blipFill>
          <a:blip r:embed="rId2"/>
          <a:stretch>
            <a:fillRect/>
          </a:stretch>
        </p:blipFill>
        <p:spPr>
          <a:xfrm>
            <a:off x="1109436" y="1727302"/>
            <a:ext cx="8743182" cy="4051587"/>
          </a:xfrm>
          <a:prstGeom prst="rect">
            <a:avLst/>
          </a:prstGeom>
        </p:spPr>
      </p:pic>
    </p:spTree>
    <p:extLst>
      <p:ext uri="{BB962C8B-B14F-4D97-AF65-F5344CB8AC3E}">
        <p14:creationId xmlns:p14="http://schemas.microsoft.com/office/powerpoint/2010/main" val="10154842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sz="1800" dirty="0">
                <a:latin typeface="Arial" panose="020B0604020202020204" pitchFamily="34" charset="0"/>
                <a:cs typeface="Arial" panose="020B0604020202020204" pitchFamily="34" charset="0"/>
              </a:rPr>
              <a:t>This project successfully demonstrates the use of Machine Learning in predicting floods based on key environmental factors such as rainfall, river water level, and soil moisture. By applying a Decision Tree Classifier, the model was able to achieve an accuracy of approximately 68%, showing promising results in identifying potential flood risks.</a:t>
            </a:r>
            <a:br>
              <a:rPr lang="en-US" sz="1800" dirty="0">
                <a:latin typeface="Arial" panose="020B0604020202020204" pitchFamily="34" charset="0"/>
                <a:cs typeface="Arial" panose="020B0604020202020204" pitchFamily="34" charset="0"/>
              </a:rPr>
            </a:b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Through data preprocessing, exploratory data analysis, and model evaluation, the project highlights how data-driven approaches can support disaster management systems. The model’s ability to accept user inputs and provide real-time predictions makes it practical and easy to implement in early warning frameworks.</a:t>
            </a:r>
            <a:br>
              <a:rPr lang="en-US" sz="1800" dirty="0">
                <a:latin typeface="Arial" panose="020B0604020202020204" pitchFamily="34" charset="0"/>
                <a:cs typeface="Arial" panose="020B0604020202020204" pitchFamily="34" charset="0"/>
              </a:rPr>
            </a:br>
            <a:br>
              <a:rPr lang="en-US" sz="1800" dirty="0">
                <a:latin typeface="Arial" panose="020B0604020202020204" pitchFamily="34" charset="0"/>
                <a:cs typeface="Arial" panose="020B0604020202020204" pitchFamily="34" charset="0"/>
              </a:rPr>
            </a:br>
            <a:r>
              <a:rPr lang="en-US" sz="1800" dirty="0">
                <a:latin typeface="Arial" panose="020B0604020202020204" pitchFamily="34" charset="0"/>
                <a:cs typeface="Arial" panose="020B0604020202020204" pitchFamily="34" charset="0"/>
              </a:rPr>
              <a:t>In conclusion, this project demonstrates that artificial intelligence can be a valuable tool in mitigating the impact of natural disasters. By predicting floods with reasonable accuracy, it can assist governments, farmers, and local communities in making informed decisions, ultimately contributing to safety, preparedness, and sustainable development.</a:t>
            </a:r>
            <a:endParaRPr lang="en-IN" sz="1800" dirty="0">
              <a:solidFill>
                <a:srgbClr val="213163"/>
              </a:solidFill>
              <a:latin typeface="Arial" panose="020B0604020202020204" pitchFamily="34" charset="0"/>
              <a:cs typeface="Arial" panose="020B0604020202020204" pitchFamily="34" charset="0"/>
            </a:endParaRPr>
          </a:p>
          <a:p>
            <a:endParaRPr lang="en-US" sz="1400" dirty="0"/>
          </a:p>
        </p:txBody>
      </p:sp>
    </p:spTree>
    <p:extLst>
      <p:ext uri="{BB962C8B-B14F-4D97-AF65-F5344CB8AC3E}">
        <p14:creationId xmlns:p14="http://schemas.microsoft.com/office/powerpoint/2010/main" val="2245309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21418" y="1194318"/>
            <a:ext cx="10515600" cy="6615404"/>
          </a:xfrm>
        </p:spPr>
        <p:txBody>
          <a:bodyPr vert="horz" lIns="91440" tIns="45720" rIns="91440" bIns="45720" rtlCol="0">
            <a:normAutofit fontScale="55000" lnSpcReduction="20000"/>
          </a:bodyPr>
          <a:lstStyle/>
          <a:p>
            <a:pPr marL="0" indent="0">
              <a:buNone/>
            </a:pPr>
            <a:r>
              <a:rPr lang="en-US" sz="3300" b="1" dirty="0">
                <a:latin typeface="Arial" panose="020B0604020202020204" pitchFamily="34" charset="0"/>
                <a:cs typeface="Arial" panose="020B0604020202020204" pitchFamily="34" charset="0"/>
              </a:rPr>
              <a:t>1. Time-Based Predictions</a:t>
            </a:r>
            <a:endParaRPr lang="en-US" sz="3300" dirty="0">
              <a:latin typeface="Arial" panose="020B0604020202020204" pitchFamily="34" charset="0"/>
              <a:cs typeface="Arial" panose="020B0604020202020204" pitchFamily="34" charset="0"/>
            </a:endParaRPr>
          </a:p>
          <a:p>
            <a:r>
              <a:rPr lang="en-US" sz="3300" dirty="0">
                <a:latin typeface="Arial" panose="020B0604020202020204" pitchFamily="34" charset="0"/>
                <a:cs typeface="Arial" panose="020B0604020202020204" pitchFamily="34" charset="0"/>
              </a:rPr>
              <a:t>Shift from "will it flood?" to "when will it flood?"</a:t>
            </a:r>
          </a:p>
          <a:p>
            <a:r>
              <a:rPr lang="en-US" sz="3300" dirty="0">
                <a:latin typeface="Arial" panose="020B0604020202020204" pitchFamily="34" charset="0"/>
                <a:cs typeface="Arial" panose="020B0604020202020204" pitchFamily="34" charset="0"/>
              </a:rPr>
              <a:t>Predict flood intensity (low/moderate/severe)</a:t>
            </a:r>
          </a:p>
          <a:p>
            <a:r>
              <a:rPr lang="en-US" sz="3300" dirty="0">
                <a:latin typeface="Arial" panose="020B0604020202020204" pitchFamily="34" charset="0"/>
                <a:cs typeface="Arial" panose="020B0604020202020204" pitchFamily="34" charset="0"/>
              </a:rPr>
              <a:t>Forecast lead time (flood in 6hrs/12hrs/24hrs)</a:t>
            </a:r>
          </a:p>
          <a:p>
            <a:r>
              <a:rPr lang="en-US" sz="3300" dirty="0">
                <a:latin typeface="Arial" panose="020B0604020202020204" pitchFamily="34" charset="0"/>
                <a:cs typeface="Arial" panose="020B0604020202020204" pitchFamily="34" charset="0"/>
              </a:rPr>
              <a:t>Implement LSTM/GRU for time series forecasting</a:t>
            </a:r>
            <a:br>
              <a:rPr lang="en-US" sz="3300" dirty="0">
                <a:latin typeface="Arial" panose="020B0604020202020204" pitchFamily="34" charset="0"/>
                <a:cs typeface="Arial" panose="020B0604020202020204" pitchFamily="34" charset="0"/>
              </a:rPr>
            </a:br>
            <a:endParaRPr lang="en-US" sz="3300" dirty="0">
              <a:latin typeface="Arial" panose="020B0604020202020204" pitchFamily="34" charset="0"/>
              <a:cs typeface="Arial" panose="020B0604020202020204" pitchFamily="34" charset="0"/>
            </a:endParaRPr>
          </a:p>
          <a:p>
            <a:pPr marL="0" indent="0">
              <a:buNone/>
            </a:pPr>
            <a:r>
              <a:rPr lang="en-US" sz="3300" b="1" dirty="0">
                <a:latin typeface="Arial" panose="020B0604020202020204" pitchFamily="34" charset="0"/>
                <a:cs typeface="Arial" panose="020B0604020202020204" pitchFamily="34" charset="0"/>
              </a:rPr>
              <a:t>2. Location Expansion</a:t>
            </a:r>
            <a:endParaRPr lang="en-US" sz="3300" dirty="0">
              <a:latin typeface="Arial" panose="020B0604020202020204" pitchFamily="34" charset="0"/>
              <a:cs typeface="Arial" panose="020B0604020202020204" pitchFamily="34" charset="0"/>
            </a:endParaRPr>
          </a:p>
          <a:p>
            <a:r>
              <a:rPr lang="en-US" sz="3300" dirty="0">
                <a:latin typeface="Arial" panose="020B0604020202020204" pitchFamily="34" charset="0"/>
                <a:cs typeface="Arial" panose="020B0604020202020204" pitchFamily="34" charset="0"/>
              </a:rPr>
              <a:t>Scale from one area to multiple cities/states</a:t>
            </a:r>
          </a:p>
          <a:p>
            <a:r>
              <a:rPr lang="en-US" sz="3300" dirty="0">
                <a:latin typeface="Arial" panose="020B0604020202020204" pitchFamily="34" charset="0"/>
                <a:cs typeface="Arial" panose="020B0604020202020204" pitchFamily="34" charset="0"/>
              </a:rPr>
              <a:t>Compare flood patterns across different regions</a:t>
            </a:r>
          </a:p>
          <a:p>
            <a:r>
              <a:rPr lang="en-US" sz="3300" dirty="0">
                <a:latin typeface="Arial" panose="020B0604020202020204" pitchFamily="34" charset="0"/>
                <a:cs typeface="Arial" panose="020B0604020202020204" pitchFamily="34" charset="0"/>
              </a:rPr>
              <a:t>Build India-wide flood risk map</a:t>
            </a:r>
          </a:p>
          <a:p>
            <a:r>
              <a:rPr lang="en-US" sz="3300" dirty="0">
                <a:latin typeface="Arial" panose="020B0604020202020204" pitchFamily="34" charset="0"/>
                <a:cs typeface="Arial" panose="020B0604020202020204" pitchFamily="34" charset="0"/>
              </a:rPr>
              <a:t>Transfer learning for data-scarce regions</a:t>
            </a:r>
            <a:br>
              <a:rPr lang="en-US" sz="3300" dirty="0">
                <a:latin typeface="Arial" panose="020B0604020202020204" pitchFamily="34" charset="0"/>
                <a:cs typeface="Arial" panose="020B0604020202020204" pitchFamily="34" charset="0"/>
              </a:rPr>
            </a:br>
            <a:endParaRPr lang="en-US" sz="3300" dirty="0">
              <a:latin typeface="Arial" panose="020B0604020202020204" pitchFamily="34" charset="0"/>
              <a:cs typeface="Arial" panose="020B0604020202020204" pitchFamily="34" charset="0"/>
            </a:endParaRPr>
          </a:p>
          <a:p>
            <a:pPr marL="0" indent="0">
              <a:buNone/>
            </a:pPr>
            <a:r>
              <a:rPr lang="en-US" sz="3300" b="1" dirty="0">
                <a:latin typeface="Arial" panose="020B0604020202020204" pitchFamily="34" charset="0"/>
                <a:cs typeface="Arial" panose="020B0604020202020204" pitchFamily="34" charset="0"/>
              </a:rPr>
              <a:t>3. Real-Time Deployment</a:t>
            </a:r>
            <a:endParaRPr lang="en-US" sz="3300" dirty="0">
              <a:latin typeface="Arial" panose="020B0604020202020204" pitchFamily="34" charset="0"/>
              <a:cs typeface="Arial" panose="020B0604020202020204" pitchFamily="34" charset="0"/>
            </a:endParaRPr>
          </a:p>
          <a:p>
            <a:r>
              <a:rPr lang="en-US" sz="3300" dirty="0">
                <a:latin typeface="Arial" panose="020B0604020202020204" pitchFamily="34" charset="0"/>
                <a:cs typeface="Arial" panose="020B0604020202020204" pitchFamily="34" charset="0"/>
              </a:rPr>
              <a:t>Build mobile app/website for live alerts</a:t>
            </a:r>
          </a:p>
          <a:p>
            <a:r>
              <a:rPr lang="en-US" sz="3300" dirty="0">
                <a:latin typeface="Arial" panose="020B0604020202020204" pitchFamily="34" charset="0"/>
                <a:cs typeface="Arial" panose="020B0604020202020204" pitchFamily="34" charset="0"/>
              </a:rPr>
              <a:t>Connect to live weather APIs</a:t>
            </a:r>
          </a:p>
          <a:p>
            <a:r>
              <a:rPr lang="en-US" sz="3300" dirty="0">
                <a:latin typeface="Arial" panose="020B0604020202020204" pitchFamily="34" charset="0"/>
                <a:cs typeface="Arial" panose="020B0604020202020204" pitchFamily="34" charset="0"/>
              </a:rPr>
              <a:t>SMS/</a:t>
            </a:r>
            <a:r>
              <a:rPr lang="en-US" sz="3300" dirty="0" err="1">
                <a:latin typeface="Arial" panose="020B0604020202020204" pitchFamily="34" charset="0"/>
                <a:cs typeface="Arial" panose="020B0604020202020204" pitchFamily="34" charset="0"/>
              </a:rPr>
              <a:t>Whatsapp</a:t>
            </a:r>
            <a:r>
              <a:rPr lang="en-US" sz="3300" dirty="0">
                <a:latin typeface="Arial" panose="020B0604020202020204" pitchFamily="34" charset="0"/>
                <a:cs typeface="Arial" panose="020B0604020202020204" pitchFamily="34" charset="0"/>
              </a:rPr>
              <a:t> alert system for villagers</a:t>
            </a:r>
          </a:p>
          <a:p>
            <a:r>
              <a:rPr lang="en-US" sz="3300" dirty="0">
                <a:latin typeface="Arial" panose="020B0604020202020204" pitchFamily="34" charset="0"/>
                <a:cs typeface="Arial" panose="020B0604020202020204" pitchFamily="34" charset="0"/>
              </a:rPr>
              <a:t>IoT sensor integration for real-time monitoring</a:t>
            </a:r>
          </a:p>
          <a:p>
            <a:br>
              <a:rPr lang="en-US" sz="1900" dirty="0">
                <a:latin typeface="Arial" panose="020B0604020202020204" pitchFamily="34" charset="0"/>
                <a:cs typeface="Arial" panose="020B0604020202020204" pitchFamily="34" charset="0"/>
              </a:rPr>
            </a:br>
            <a:endParaRPr lang="en-US" sz="1900" dirty="0">
              <a:latin typeface="Arial" panose="020B0604020202020204" pitchFamily="34" charset="0"/>
              <a:cs typeface="Arial" panose="020B0604020202020204" pitchFamily="34" charset="0"/>
            </a:endParaRPr>
          </a:p>
          <a:p>
            <a:endParaRPr lang="en-US" sz="1800" dirty="0">
              <a:latin typeface="Arial" panose="020B0604020202020204" pitchFamily="34" charset="0"/>
              <a:cs typeface="Arial" panose="020B0604020202020204" pitchFamily="34" charset="0"/>
            </a:endParaRPr>
          </a:p>
          <a:p>
            <a:pPr marL="0" indent="0">
              <a:buNone/>
            </a:pPr>
            <a:br>
              <a:rPr lang="en-US" sz="2400" dirty="0"/>
            </a:br>
            <a:br>
              <a:rPr lang="en-US" sz="2400" dirty="0"/>
            </a:br>
            <a:endParaRPr lang="en-US" sz="2200" dirty="0">
              <a:latin typeface="Franklin Gothic Book"/>
            </a:endParaRPr>
          </a:p>
        </p:txBody>
      </p:sp>
    </p:spTree>
    <p:extLst>
      <p:ext uri="{BB962C8B-B14F-4D97-AF65-F5344CB8AC3E}">
        <p14:creationId xmlns:p14="http://schemas.microsoft.com/office/powerpoint/2010/main" val="3744199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a:cs typeface="Arial"/>
              </a:rPr>
              <a:t>References:</a:t>
            </a:r>
            <a:endParaRPr lang="en-US" sz="4000" dirty="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5082940"/>
          </a:xfrm>
        </p:spPr>
        <p:txBody>
          <a:bodyPr vert="horz" lIns="91440" tIns="45720" rIns="91440" bIns="45720" rtlCol="0" anchor="t">
            <a:normAutofit fontScale="92500" lnSpcReduction="10000"/>
          </a:bodyPr>
          <a:lstStyle/>
          <a:p>
            <a:pPr marL="0" indent="0">
              <a:buNone/>
            </a:pPr>
            <a:r>
              <a:rPr lang="en-US" sz="1900" b="1" dirty="0">
                <a:latin typeface="Arial" panose="020B0604020202020204" pitchFamily="34" charset="0"/>
                <a:cs typeface="Arial" panose="020B0604020202020204" pitchFamily="34" charset="0"/>
              </a:rPr>
              <a:t>Kaggle</a:t>
            </a:r>
            <a:r>
              <a:rPr lang="en-US" sz="1900" dirty="0">
                <a:latin typeface="Arial" panose="020B0604020202020204" pitchFamily="34" charset="0"/>
                <a:cs typeface="Arial" panose="020B0604020202020204" pitchFamily="34" charset="0"/>
              </a:rPr>
              <a:t> – Drought Prediction Dataset</a:t>
            </a:r>
            <a:br>
              <a:rPr lang="en-US" sz="1900" dirty="0">
                <a:latin typeface="Arial" panose="020B0604020202020204" pitchFamily="34" charset="0"/>
                <a:cs typeface="Arial" panose="020B0604020202020204" pitchFamily="34" charset="0"/>
              </a:rPr>
            </a:br>
            <a:r>
              <a:rPr lang="en-US" sz="1900" dirty="0">
                <a:latin typeface="Arial" panose="020B0604020202020204" pitchFamily="34" charset="0"/>
                <a:cs typeface="Arial" panose="020B0604020202020204" pitchFamily="34" charset="0"/>
              </a:rPr>
              <a:t>Retrieved from: </a:t>
            </a:r>
            <a:r>
              <a:rPr lang="en-US" sz="1900" dirty="0">
                <a:latin typeface="Arial" panose="020B0604020202020204" pitchFamily="34" charset="0"/>
                <a:cs typeface="Arial" panose="020B0604020202020204" pitchFamily="34" charset="0"/>
                <a:hlinkClick r:id="rId2"/>
              </a:rPr>
              <a:t>https://www.kaggle.com</a:t>
            </a:r>
            <a:endParaRPr lang="en-US" sz="1900" dirty="0">
              <a:latin typeface="Arial" panose="020B0604020202020204" pitchFamily="34" charset="0"/>
              <a:cs typeface="Arial" panose="020B0604020202020204" pitchFamily="34" charset="0"/>
            </a:endParaRPr>
          </a:p>
          <a:p>
            <a:pPr marL="285750" indent="-285750"/>
            <a:endParaRPr lang="en-US" sz="1900" b="1" dirty="0">
              <a:latin typeface="Arial" panose="020B0604020202020204" pitchFamily="34" charset="0"/>
              <a:cs typeface="Arial" panose="020B0604020202020204" pitchFamily="34" charset="0"/>
            </a:endParaRPr>
          </a:p>
          <a:p>
            <a:pPr marL="0" indent="0">
              <a:buNone/>
            </a:pPr>
            <a:r>
              <a:rPr lang="en-US" sz="1900" b="1" dirty="0">
                <a:latin typeface="Arial" panose="020B0604020202020204" pitchFamily="34" charset="0"/>
                <a:cs typeface="Arial" panose="020B0604020202020204" pitchFamily="34" charset="0"/>
              </a:rPr>
              <a:t>AICTE Mentor Sessions &amp; Tutorial Classes</a:t>
            </a:r>
            <a:br>
              <a:rPr lang="en-US" sz="1900" dirty="0">
                <a:latin typeface="Arial" panose="020B0604020202020204" pitchFamily="34" charset="0"/>
                <a:cs typeface="Arial" panose="020B0604020202020204" pitchFamily="34" charset="0"/>
              </a:rPr>
            </a:br>
            <a:r>
              <a:rPr lang="en-US" sz="1900" dirty="0">
                <a:latin typeface="Arial" panose="020B0604020202020204" pitchFamily="34" charset="0"/>
                <a:cs typeface="Arial" panose="020B0604020202020204" pitchFamily="34" charset="0"/>
              </a:rPr>
              <a:t>Guidance and conceptual understanding of Machine Learning techniques.</a:t>
            </a:r>
          </a:p>
          <a:p>
            <a:pPr marL="285750" indent="-285750"/>
            <a:endParaRPr lang="en-US" sz="1900" b="1" dirty="0">
              <a:latin typeface="Arial" panose="020B0604020202020204" pitchFamily="34" charset="0"/>
              <a:cs typeface="Arial" panose="020B0604020202020204" pitchFamily="34" charset="0"/>
            </a:endParaRPr>
          </a:p>
          <a:p>
            <a:pPr marL="0" indent="0">
              <a:buNone/>
            </a:pPr>
            <a:r>
              <a:rPr lang="en-US" sz="1900" b="1" dirty="0">
                <a:latin typeface="Arial" panose="020B0604020202020204" pitchFamily="34" charset="0"/>
                <a:cs typeface="Arial" panose="020B0604020202020204" pitchFamily="34" charset="0"/>
              </a:rPr>
              <a:t>Online Technical Articles &amp; Research Papers</a:t>
            </a:r>
            <a:br>
              <a:rPr lang="en-US" sz="1900" dirty="0">
                <a:latin typeface="Arial" panose="020B0604020202020204" pitchFamily="34" charset="0"/>
                <a:cs typeface="Arial" panose="020B0604020202020204" pitchFamily="34" charset="0"/>
              </a:rPr>
            </a:br>
            <a:r>
              <a:rPr lang="en-US" sz="1900" dirty="0">
                <a:latin typeface="Arial" panose="020B0604020202020204" pitchFamily="34" charset="0"/>
                <a:cs typeface="Arial" panose="020B0604020202020204" pitchFamily="34" charset="0"/>
              </a:rPr>
              <a:t>Various academic and educational resources referred to for drought analysis and model development.</a:t>
            </a:r>
          </a:p>
          <a:p>
            <a:pPr marL="285750" indent="-285750"/>
            <a:endParaRPr lang="en-US" sz="1900" b="1" dirty="0">
              <a:latin typeface="Arial" panose="020B0604020202020204" pitchFamily="34" charset="0"/>
              <a:cs typeface="Arial" panose="020B0604020202020204" pitchFamily="34" charset="0"/>
            </a:endParaRPr>
          </a:p>
          <a:p>
            <a:pPr marL="0" indent="0">
              <a:buNone/>
            </a:pPr>
            <a:r>
              <a:rPr lang="en-US" sz="1900" b="1" dirty="0">
                <a:latin typeface="Arial" panose="020B0604020202020204" pitchFamily="34" charset="0"/>
                <a:cs typeface="Arial" panose="020B0604020202020204" pitchFamily="34" charset="0"/>
              </a:rPr>
              <a:t>Google Search</a:t>
            </a:r>
            <a:br>
              <a:rPr lang="en-US" sz="1900" dirty="0">
                <a:latin typeface="Arial" panose="020B0604020202020204" pitchFamily="34" charset="0"/>
                <a:cs typeface="Arial" panose="020B0604020202020204" pitchFamily="34" charset="0"/>
              </a:rPr>
            </a:br>
            <a:r>
              <a:rPr lang="en-US" sz="1900" dirty="0">
                <a:latin typeface="Arial" panose="020B0604020202020204" pitchFamily="34" charset="0"/>
                <a:cs typeface="Arial" panose="020B0604020202020204" pitchFamily="34" charset="0"/>
              </a:rPr>
              <a:t>Used for additional implementation support and conceptual clarification.</a:t>
            </a:r>
            <a:br>
              <a:rPr lang="en-US" sz="1900" dirty="0">
                <a:latin typeface="Arial" panose="020B0604020202020204" pitchFamily="34" charset="0"/>
                <a:cs typeface="Arial" panose="020B0604020202020204" pitchFamily="34" charset="0"/>
              </a:rPr>
            </a:br>
            <a:endParaRPr lang="en-US" sz="1900" dirty="0">
              <a:latin typeface="Arial" panose="020B0604020202020204" pitchFamily="34" charset="0"/>
              <a:cs typeface="Arial" panose="020B0604020202020204" pitchFamily="34" charset="0"/>
            </a:endParaRPr>
          </a:p>
          <a:p>
            <a:pPr marL="0" indent="0">
              <a:buNone/>
            </a:pPr>
            <a:r>
              <a:rPr lang="en-IN" sz="1900" b="1" dirty="0">
                <a:latin typeface="Arial" panose="020B0604020202020204" pitchFamily="34" charset="0"/>
                <a:cs typeface="Arial" panose="020B0604020202020204" pitchFamily="34" charset="0"/>
              </a:rPr>
              <a:t>GitHub Link: </a:t>
            </a:r>
            <a:br>
              <a:rPr lang="en-IN" sz="1900" dirty="0">
                <a:latin typeface="Arial" panose="020B0604020202020204" pitchFamily="34" charset="0"/>
                <a:cs typeface="Arial" panose="020B0604020202020204" pitchFamily="34" charset="0"/>
              </a:rPr>
            </a:br>
            <a:r>
              <a:rPr lang="en-IN" sz="1900" dirty="0">
                <a:latin typeface="Arial" panose="020B0604020202020204" pitchFamily="34" charset="0"/>
                <a:cs typeface="Arial" panose="020B0604020202020204" pitchFamily="34" charset="0"/>
                <a:hlinkClick r:id="rId3" tooltip="https://github.com/Harsh2005adgitm/MICROSOFT_ELEVATE-PROJECT_FLOOD_PREDICTION_MODEL"/>
              </a:rPr>
              <a:t>https://github.com/Harsh2005adgitm/MICROSOFT_ELEVATE-PROJECT_FLOOD_PREDICTION_MODEL</a:t>
            </a:r>
            <a:br>
              <a:rPr lang="en-IN" sz="1900" dirty="0">
                <a:latin typeface="Arial" panose="020B0604020202020204" pitchFamily="34" charset="0"/>
                <a:cs typeface="Arial" panose="020B0604020202020204" pitchFamily="34" charset="0"/>
              </a:rPr>
            </a:br>
            <a:br>
              <a:rPr lang="en-IN" sz="1900" dirty="0">
                <a:latin typeface="Arial" panose="020B0604020202020204" pitchFamily="34" charset="0"/>
                <a:cs typeface="Arial" panose="020B0604020202020204" pitchFamily="34" charset="0"/>
              </a:rPr>
            </a:b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TotalTime>
  <Words>1100</Words>
  <Application>Microsoft Office PowerPoint</Application>
  <PresentationFormat>Widescreen</PresentationFormat>
  <Paragraphs>102</Paragraphs>
  <Slides>13</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PowerPoint Presentation</vt:lpstr>
      <vt:lpstr>PowerPoint Presentation</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Xortal Octane Nobita</cp:lastModifiedBy>
  <cp:revision>111</cp:revision>
  <dcterms:created xsi:type="dcterms:W3CDTF">2024-05-21T11:55:07Z</dcterms:created>
  <dcterms:modified xsi:type="dcterms:W3CDTF">2026-02-12T21:38:04Z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